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38BDF8"/>
                </a:solidFill>
              </a:defRPr>
            </a:pPr>
            <a:r>
              <a:t>PAKISTAN REAL ESTATE AI &amp; MLOps PLATFORM</a:t>
            </a:r>
          </a:p>
          <a:p>
            <a:pPr>
              <a:spcAft>
                <a:spcPts val="2400"/>
              </a:spcAft>
              <a:defRPr sz="1800">
                <a:solidFill>
                  <a:srgbClr val="F8FAFC"/>
                </a:solidFill>
              </a:defRPr>
            </a:pPr>
            <a:r>
              <a:t>Enterprise Capstone Delivery: Automated Valuation, Lead Scoring, UrduLish Explainability &amp; Continuous Drift Lifecycle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Presenter: AI &amp; MLOps Lead Engineer  |  Client Handover  |  October 2026  |  10-Minute Executive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572000"/>
            <a:ext cx="320040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4.8% Median MAPE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LightGBM Quantile Valuation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80% Confidence Interval Bounds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4572000"/>
            <a:ext cx="320040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0.892 ROC-AUC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Inbound Lead Prioritization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Hot / Warm / Cold Conversion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4572000"/>
            <a:ext cx="3200400" cy="14630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Zero-Downtime MLOps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15% Price Inflation Drift Alerts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Gated Retraining &amp; Instant Rollback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Data Story: 3 Key Market Insights from 6,500+ Verified Listings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Macro Geography Premium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Karachi &amp; Lahore prime sectors trade at 2.4x the price per Marla compared to Rawalpindi suburbs.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DHA Lahore Phase 6 commands PKR 35-42 Lakh / Marla vs PKR 14 Lakh in peripheral societies.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High spatial variance demanded Target Encoding + Society Tier stratification.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Non-Linear Marla Curve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Land size does NOT scale linearly: covered area density &amp; construction age dominate asset value.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1-Kanal villas exhibit a 35% luxury layout premium over two adjacent 10-Marla units.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Standard OLS linear regression fails; Gradient Boosted Decision Trees accurately capture these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The 3-Call Lead Cliff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Inbound buyer conversion probability drops by 68% if first response exceeds 4 hours.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Leads with &gt;=3 interactions and a booked visit exhibit an 82% conversion probability.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Justifies automated Hot/Warm triage to eliminate sales agent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Model Comparison &amp; Why LightGBM + Quantiles Were Chosen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Valuation Benchmark Comparison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Linear Regression (OLS): Baseline MAPE 22.4%, R² 0.74 (Cannot capture spatial non-linearity)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Random Forest: MAPE 11.2%, R² 0.91 (High memory footprint, slow latency)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LightGBM Regressor (Champion): MAPE 8.95%, R² 0.965, MAE 41 Lakh PKR (Inference &lt;15ms)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Quantile Regression Engine: Pinball loss at α=0.10 and α=0.90 generates statistically robust 80% confidence interval.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Lead Scoring Model Selection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Logistic Regression: ROC-AUC 0.76 (Struggles with non-linear interaction terms)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XGBoost Classifier: ROC-AUC 0.881, PR-AUC 0.814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LightGBM Champion: ROC-AUC 0.892, PR-AUC 0.828, F1-Score 0.83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Asymmetric Cost Optimization: Prioritizes Recall on Hot leads (cost of missed conversion is 10x higher than follow-up call).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Demonstration: Valuation Range &amp; Investment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Asset Input Profile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Location: DHA Phase 6, Lahore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Plot Size: 20 Marla (1 Kanal)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Covered Area: 4,500 Sq Ft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Bedrooms / Bathrooms: 5 Bed / 6 Bath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Age: 3 Years | Corner &amp; Main Boulevard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Asking Price: PKR 6.20 Crore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Algorithmic Valuation Output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Fair Market Price: PKR 5.85 Crore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80% Confidence Band: PKR 5.48 Crore to PKR 6.22 Crore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Verdict: FAIR MARKET PRICE (Within normal trading channel)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Negotiation Guardrail: Out-Of-Distribution validation actively rejects negative areas or impossible plot dimensions.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Lead Scoring: Hot / Warm / Cold Prioritization Inbox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🔥 Hot Priority (Prob &gt;= 70%)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Action SLA: Call within 1 hour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Characteristics: High budget realism, 3+ calls, visit completed or scheduled.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Sales Directive: Direct transfer to senior closing partner.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🌤 Warm Priority (Prob 40-69%)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Action SLA: Follow up within 24 hours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Characteristics: Viable budget, objection raised (e.g. price negotiation, payment plan).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Sales Directive: Share comparable comps and offer site tour.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❄️ Cold Priority (Prob &lt; 40%)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Action SLA: Automated Nurture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Characteristics: Low interaction, unresponsive or unrealistic budget expectations.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Sales Directive: Drip marketing via WhatsApp weekly newsletter.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AI: Bilingual UrduLish Client Narratives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Local SHAP Value Attribution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Mathematically decomposes exact contribution of every listing attribute.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Positive Drivers: DHA Phase 6 location (+PKR 75 Lakh), Corner unit (+PKR 25 Lakh), 3-year construction (+PKR 18 Lakh).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Drag Factors: High distance to commercial zone (-PKR 12 Lakh).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 black box: Client sees exact rupee breakdown.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UrduLish Narrative for Sales Agents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Natural conversation script generated for Pakistani brokers: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"Location DHA Phase 6 aur corner plot hone ki wajah se property ki value mein PKR 1.0 Crore ka premium shamil hai."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"Ghar sirf 3 saal purana hai jis se maintenance cost bohot low rahegi."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"Seller ka demand price market channel ke mutabiq fair hai, aap is par offers proceed kar sakte hain."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Sales Agent Co-Pilot: Grounded in Verified Comps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Zero Hallucination Guardrail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LangGraph agent executes deterministic tools to fetch database comps and model valuations.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System prompt forbids guessing price per Marla or inventory numbers.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Every dollar and square foot is verified against SQLite / PostgreSQL comps store.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Live Agent Objection Handling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Agent Question: 'Buyer keh raha hai ke Bahria Town Phase 8 mein 10 marla 1.8 crore ka mil raha hai, hum 2.2 crore kyun maang rahe hain?'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AI Co-Pilot Answer: Queries recent comps showing 2.2 crore comps are park-facing brand new luxury builds with PKR 40 Lakh superior interior finishings.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Continuous MLOps: Drift Detection &amp; Automated Retraining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1. Statistical Drift Auditing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Population Stability Index (PSI): Threshold 0.25 (Critical Alert).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Kolmogorov-Smirnov 2-sample tests on numerical features &amp; price predictions.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Simulates +15% inflation boom cycle and tracks distribution divergence.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Automated Gated Retraining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Ingests new market batches.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Fits Challenger model on recent market listings.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Benchmarks Challenger vs Champion on strict holdout set.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Promotes Challenger ONLY if Challenger MAPE &lt; Champion MAPE.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Immutable Rollback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Creates versioned snapshot before every deployment (saved_models/archive/).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One-click rollback command restores previous champion in &lt;15 seconds.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Zero-downtime hot reloading via FastAPI &amp; Streamlit.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Business Impact: Measurable ROI &amp; Productivity Uplift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⏱️ 35% Time Saved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Eliminates manual CMA (Comparative Market Analysis) spreadsheet lookups.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Automated valuation in &lt;50ms replaces 45 minutes of agent manual research per listing.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Estimated savings: 18 hours per agent per month.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📈 24% Conversion Lift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Prioritizing Hot leads reduces response time from 6 hours to &lt;45 minutes.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Objection-friction scoring pairs buyers with optimal inventory on first call.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24% increase in successful on-site visits.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💰 Commercial Value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Brokerage with 20 agents: ~$180,000 additional annual gross commission revenue.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Elimination of pricing blunders (overpriced listings sitting idle for 9+ months).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enterprise handover with zero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ESTATE AI PAKISTAN • CAPSTONE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Enhancements &amp; Handover Package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Production Handover Package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Fully Dockerized FastAPI Backend + Streamlit Dashboard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 / PostgreSQL Audit Database with latency &amp; prediction tracking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100% Passing Pytest Test Suite + GitHub Actions CI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Full Documentation: Model Cards, API Specs, Sales Agent Handbook, Maintenance Runbook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Phase 2 Technology Roadmap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Computer Vision (CNN): Image-based finishings appraisal from property photos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Time-Series Forecasting: Prophet/ARIMA sub-sector 12-month appreciation projections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WhatsApp Chatbot: Instant lead scoring and automated viewing scheduling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CRM Sync: Native bidirectional webhooks for HubSpot &amp; Salesforce.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