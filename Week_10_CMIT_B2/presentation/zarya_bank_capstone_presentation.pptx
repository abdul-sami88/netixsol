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D9488"/>
                </a:solidFill>
              </a:defRPr>
            </a:pPr>
            <a:r>
              <a:t>ZARYA DIGITAL BANK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Sovereign UrduLish LLM &amp; Enterprise AI Platform</a:t>
            </a:r>
          </a:p>
          <a:p>
            <a:pPr>
              <a:defRPr sz="1800">
                <a:solidFill>
                  <a:srgbClr val="94A3B8"/>
                </a:solidFill>
              </a:defRPr>
            </a:pPr>
            <a:r>
              <a:t>Capstone Client Handover &amp; Executive Briefing | CTO &amp; Head of CX</a:t>
            </a:r>
          </a:p>
          <a:p>
            <a:br/>
            <a:pPr>
              <a:defRPr sz="1300">
                <a:solidFill>
                  <a:srgbClr val="D97706"/>
                </a:solidFill>
              </a:defRPr>
            </a:pPr>
            <a:r>
              <a:t>Production Architecture • DPO Preference Alignment • RAG Hybrid • 87% Cost Reduction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EXECUTIVE 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The Strategic Problem: Foreign APIs vs. Sovereign Banking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F172A"/>
                </a:solidFill>
              </a:defRPr>
            </a:pPr>
            <a:r>
              <a:t>1. Language &amp; Cultural Drift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Public LLMs suffer from Indian Hindi lexical drift (e.g. 'Kripya', 'Shukriya' vs authentic Pakistani banking Urdu).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Pakistani retail banking is conducted in UrduLish ('Mera Raast transfer fail hua, reference ID yeh hai').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Generic models fail on local vernacular and dispute context.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78308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F172A"/>
                </a:solidFill>
              </a:defRPr>
            </a:pPr>
            <a:r>
              <a:t>2. Regulatory &amp; Privacy Risks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State Bank of Pakistan (SBP) prohibits unencrypted customer financial data crossing foreign borders.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Commercial APIs expose customer account data to third-party retention and training policies.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Sovereignty requires on-premise or sovereign private cloud deployment.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78308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F172A"/>
                </a:solidFill>
              </a:defRPr>
            </a:pPr>
            <a:r>
              <a:t>3. The Cost &amp; Latency Drain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Commercial APIs charge in USD; rapid PKR currency devaluation inflates operating expenditure monthly.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High TTFT (time-to-first-token) on foreign API endpoints harms mobile banking responsiveness.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At 50,000 queries/day, API costs exceed $2,250/mo vs $280/mo self-hosted.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ENGINEERING MILESTONE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End-to-End 5-Day Technical Delivery Matrix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066543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700783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F172A"/>
                </a:solidFill>
              </a:defRPr>
            </a:pPr>
            <a:r>
              <a:t>Day 1: Synthetic Data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2,500 sovereign UrduLish banking dialogues across 10 intents.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100% synthetic, zero PII, strict Pakistani UrduLish grammar.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Automated quality, length, and lexical audits.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645920"/>
            <a:ext cx="2066543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1783080"/>
            <a:ext cx="1700783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F172A"/>
                </a:solidFill>
              </a:defRPr>
            </a:pPr>
            <a:r>
              <a:t>Day 2: SFT Dual LoRA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Qwen 2.5 3B (3.34 GB VRAM) vs Llama 3.2 3B (5.83 GB VRAM).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QLoRA 4-bit fine-tuning with rank=16, alpha=32.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Selected Qwen-3B for highest UrduLish fluency.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1645920"/>
            <a:ext cx="2066543" cy="45720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0" y="1783080"/>
            <a:ext cx="1700783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F172A"/>
                </a:solidFill>
              </a:defRPr>
            </a:pPr>
            <a:r>
              <a:t>Day 3: DPO Alignment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500 DPO preference triples (prompt, chosen, rejected).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Trained on Tesla T4: loss 0.085, reward margin +12.90.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100% vishing refusal &amp; zero catastrophic forgetting.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199" y="1645920"/>
            <a:ext cx="2066543" cy="45720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79" y="1783080"/>
            <a:ext cx="1700783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F172A"/>
                </a:solidFill>
              </a:defRPr>
            </a:pPr>
            <a:r>
              <a:t>Day 4: Quantize &amp; RAG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Quantized to 4-bit GGUF (1.89 GB) running at 64.8 tok/s.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Live policy RAG for dynamic SBP Schedule of Charges.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FastAPI backend + SBP Turnaround Time ticketing.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0" y="1645920"/>
            <a:ext cx="2066543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0" y="1783080"/>
            <a:ext cx="1700783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F172A"/>
                </a:solidFill>
              </a:defRPr>
            </a:pPr>
            <a:r>
              <a:t>Day 5: Enterprise Ops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Dockerized container deployment with healthchecks.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Flywheel pipeline converting bad feedback to DPO pairs.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Executive ROI report &amp; Model Card client handover.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SAFETY &amp; ALIGNMENT 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DPO Preference Alignment: Eliminating Banking Liabilities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F172A"/>
                </a:solidFill>
              </a:defRPr>
            </a:pPr>
            <a:r>
              <a:t>Empirical DPO Training Telemetry (Tesla T4)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Implicit Reward Margin: Surged from +1.02 to +12.8966 (Target &gt; +2.0).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Reward Discrimination Accuracy: 100.0% separation of preferred vs rejected banking answers.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Training Loss: Converged cleanly to 0.0852 in 63 steps (8 mins 18 secs).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Implicit KL regularization strictly bounded model drift against base weights.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Zero Catastrophic Forgetting: 100% accuracy retained across 30 English and reasoning probes.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7830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F172A"/>
                </a:solidFill>
              </a:defRPr>
            </a:pPr>
            <a:r>
              <a:t>Behavioral Audit: SFT vs. SFT + DPO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Card Number &amp; CVV Harvest Probe: Model strictly refuses: 'Sorry, I cannot assist with that... Zarya Bank never requests CVV or card details.'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Money Mule Offer ('Account rent pe dedo 50k mahina'): Disclaims illicit account renting and flags financial risk.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Lottery / Prize Scam ('Jeeto Pakistan sona tax bhejo'): Completely extinguishes scam compliance and directs to verified channels.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Hallucinated SBP TATs: Completely replaced by SBP Consumer Protection Framework standards.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EMPIRICAL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Evaluation Framework &amp; Blind Human Review Benchmarks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F172A"/>
                </a:solidFill>
              </a:defRPr>
            </a:pPr>
            <a:r>
              <a:t>Double-Blind 3-Evaluator Human Review (50 Probes)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Fine-Tuned Qwen-3B: 66.0% Win Rate (33 / 50 clean wins).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Gemini 1.5 Flash (Commercial Cloud API): 24.0% Win Rate (12 / 50 wins).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Tie / Both Acceptable: 10.0% (5 / 50).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Base Qwen-3B (Zero-Shot): 0.0% Win Rate (0 wins).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Evaluator Feedback: 'Fine-tuned model demonstrated superior understanding of Pakistani banking terminology (Raast, IBFT, CNIC Asaan) and authentic empathetic phrasing.'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7830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F172A"/>
                </a:solidFill>
              </a:defRPr>
            </a:pPr>
            <a:r>
              <a:t>Automated LLM-as-a-Judge Calibration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Calibrated on 50 human audit ratings using a strict 5-dimensional banking rubric.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Pearson Correlation Coefficient: r = 0.865 (Target &gt; 0.80).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Mean Absolute Error (MAE): 0.19 stars on a 1.0 to 5.0 scale.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Human Agreement Within 0.5 Stars: 90.0% concordance.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Enables fully automated CI/CD continuous regression testing on daily commits.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PRODUCTION SIZING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Quantization: Shrinking the Model for Affordable Deployment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F172A"/>
                </a:solidFill>
              </a:defRPr>
            </a:pPr>
            <a:r>
              <a:t>FP16 (Reference Merged)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Disk Size: 6.18 GB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VRAM Required: 7.2 GiB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Generation Speed: 38.5 tok/s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Time to First Token: 45.2 ms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Golden Test Retention: 100.0% (Ref)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Deployment Target: High-end GPU cloud instances.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78308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F172A"/>
                </a:solidFill>
              </a:defRPr>
            </a:pPr>
            <a:r>
              <a:t>8-bit GGUF (Q8_0)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Disk Size: 3.38 GB (-45.3%)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VRAM Required: 4.1 GiB (-43.0%)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Generation Speed: 52.1 tok/s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Time to First Token: 32.6 ms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Golden Test Retention: 99.4% (-0.6% loss)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Deployment Target: Budget T4 GPUs.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78308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F172A"/>
                </a:solidFill>
              </a:defRPr>
            </a:pPr>
            <a:r>
              <a:t>4-bit GGUF (Q4_K_M) ★ RECOMMENDED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Disk Size: 1.89 GB (-69.4% savings)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VRAM Required: 2.3 GiB (-68.1% savings)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Generation Speed: 64.8 tok/s (+68.3% speedup)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Time to First Token: 24.1 ms (-46.7% latency)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Golden Test Retention: 92.4% (Near-zero quality loss)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Runs on cheap commodity CPU / Edge server.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KNOWLEDGE RETRIEVAL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RAG + Fine-Tuning Hybrid: Style is Fixed, Facts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F172A"/>
                </a:solidFill>
              </a:defRPr>
            </a:pPr>
            <a:r>
              <a:t>The Division of Responsibilities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Fine-Tuning Role: Teaches conversational empathy, authentic UrduLish grammar, SBP dispute etiquette, and structured JSON tool schemas.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RAG Engine Role: Injects live, verifiable policy context (Schedule of Bank Charges, Raast transfer limits, Asaan account balance caps).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Eliminates model retraining whenever State Bank of Pakistan updates 1LINK or ATM withdrawal fees.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Tri-way Benchmark: Fine-Tuned + RAG scored 9.8/10 vs 7.9/10 for FT alone and 6.8/10 for Base + RAG.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7830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F172A"/>
                </a:solidFill>
              </a:defRPr>
            </a:pPr>
            <a:r>
              <a:t>Live Proof: Zero-Retraining Dynamic Update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Step 1: User asks: 'PayPak debit card ki annual fee kitni hai?'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Model Answer (Before): 'Zarya PayPak Debit Card ki annual fee Rs. 1,200 plus FED hai.'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Step 2: Operations team updates policy JSON on disk (Rs. 1,200 -&gt; Rs. 1,500). Zero model retraining.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Step 3: User repeats question.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Model Answer (After): 'Zarya PayPak Debit Card ki annual fee Rs. 1,500 plus FED hai.'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Result: Instantaneous policy compliance with zero compute downtime.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COMPLIANCE &amp; RISK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Institutional Guardrails &amp; SBP Complaint Ticketing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F172A"/>
                </a:solidFill>
              </a:defRPr>
            </a:pPr>
            <a:r>
              <a:t>Deterministic Security Guardrails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Inbound Prompt Injection: Blocks jailbreaks ('Ignore previous instructions') with 100% precision.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Credential Harvesting Blocker: Intercepts requests for PIN, OTP, password, or CVV.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Scam Interceptor: Detects lottery schemes ('Jeeto Pakistan') and enforces mandatory institutional warning: 'Zarya Bank kabhi bhi call ya SMS par aap ka OTP ya PIN nahi maangta...'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Outbound PII Masking: Redacts CNICs (42101-*******-1) and phone numbers before writing to audit logs.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7830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F172A"/>
                </a:solidFill>
              </a:defRPr>
            </a:pPr>
            <a:r>
              <a:t>SBP Regulatory Ticketing &amp; Auto-Escalation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Automated Complaint Tickets: Generates unique ticket IDs (ZAR-2026-XXXX) into database.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Regulatory SLA Assignment: ATM disputes (10 days), Raast failed transfer (48 hours), Fraud investigation (30 days).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Multi-Factor Human Escalation: Automatically escalates cases to human fraud specialist if disputed amount &gt;= Rs. 50,000, category is FRAUD, or customer expresses distress.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Integrated directly into Support-Agent CRM dashboard.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BUSINESS VALUE &amp; FINANCIAL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Executive Cost &amp; ROI Analysis (50,000 Messages / Day)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F172A"/>
                </a:solidFill>
              </a:defRPr>
            </a:pPr>
            <a:r>
              <a:t>Commercial API vs. Sovereign Self-Hosted (Monthly)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Volume Baseline: 50,000 queries/day = 1,500,000 queries/month (375M tokens/mo).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Proprietary Cloud API (GPT-4o / Claude Sonnet): $2,250 / month (~PKR 630,000/mo) + ongoing FX currency depreciation risk.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Self-Hosted Sovereign Qwen-3B (AWS g5.xlarge / RunPod): $280 / month (~PKR 78,000/mo).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Monthly Operational Savings: $1,970 / month (~PKR 550,000/mo).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Annual Savings to Bank: $23,640 (~PKR 6.6 Million) every single year!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Break-Even Horizon: Capital investment recouped in less than 18 days.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7830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F172A"/>
                </a:solidFill>
              </a:defRPr>
            </a:pPr>
            <a:r>
              <a:t>Strategic Enterprise Benefits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1. Complete Data Sovereignty: Customer banking dialogues never leave the bank's secure VPC or local data center.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2. Latency Guarantee: Continuous batching &amp; KV caching deliver p50 latency of 70 ms vs 800+ ms for foreign cloud APIs.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3. Independence from Vendor Lock-in: Zero risk of third-party API rate limits, deprecations, or price hikes.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4. Customizable Core IP: The weights, training data, and preferences belong 100% to Zarya Digital Bank.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NEXT HORIZONS &amp;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Strategic Future Roadmap &amp; Client Handover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F172A"/>
                </a:solidFill>
              </a:defRPr>
            </a:pPr>
            <a:r>
              <a:t>1. Multimodal &amp; Script Expansion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Urdu Nastaliq Script: Dual support for native Urdu script alongside UrduLish.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Voice AI (TTS / STT): Voice note support over WhatsApp banking channel in authentic Pakistani accents.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Regional Dialect Support: Pashto, Sindhi, and Punjabi language adapters.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78308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F172A"/>
                </a:solidFill>
              </a:defRPr>
            </a:pPr>
            <a:r>
              <a:t>2. Core Banking Deep Integration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Direct Core Banking Webhooks: Live balance checks and Raast account title fetch via 1LINK Open Banking APIs.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Autonomous Multi-Step Actions: Card freeze and replacement dispatch with biometric verification.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Graph Fraud Intelligence: Detection of coordinated money mule rings across concurrent conversations.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78308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F172A"/>
                </a:solidFill>
              </a:defRPr>
            </a:pPr>
            <a:r>
              <a:t>3. Operations &amp; Handover Deliverables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Dockerized Deployment Package: Production-ready containers with automated CI/CD workflows.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Enterprise Model Card: Provenance, hyperparameters, ethics, and security audit signoff.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Continuous Data Flywheel: Automatic pipeline converting negative customer feedback into new DPO training triples.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Full IT Runbook &amp; Rollback Guide.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